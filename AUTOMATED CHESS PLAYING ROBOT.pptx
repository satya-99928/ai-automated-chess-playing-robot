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8" r:id="rId2"/>
    <p:sldId id="268" r:id="rId3"/>
    <p:sldId id="259" r:id="rId4"/>
    <p:sldId id="260" r:id="rId5"/>
    <p:sldId id="261" r:id="rId6"/>
    <p:sldId id="272" r:id="rId7"/>
    <p:sldId id="270" r:id="rId8"/>
    <p:sldId id="263" r:id="rId9"/>
    <p:sldId id="264" r:id="rId10"/>
    <p:sldId id="265" r:id="rId11"/>
    <p:sldId id="271" r:id="rId12"/>
    <p:sldId id="281" r:id="rId13"/>
    <p:sldId id="282" r:id="rId14"/>
    <p:sldId id="277" r:id="rId15"/>
    <p:sldId id="278" r:id="rId16"/>
    <p:sldId id="279" r:id="rId17"/>
    <p:sldId id="280" r:id="rId18"/>
    <p:sldId id="274" r:id="rId19"/>
    <p:sldId id="286" r:id="rId20"/>
    <p:sldId id="285" r:id="rId21"/>
    <p:sldId id="287" r:id="rId22"/>
    <p:sldId id="275" r:id="rId23"/>
    <p:sldId id="284" r:id="rId24"/>
    <p:sldId id="267" r:id="rId25"/>
    <p:sldId id="276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>
      <p:cViewPr>
        <p:scale>
          <a:sx n="66" d="100"/>
          <a:sy n="66" d="100"/>
        </p:scale>
        <p:origin x="1915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09:11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12:04.8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9T18:11:46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7AF74-EFB1-41C4-A3EF-3EE72BCB09F7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09CEF1-DCA6-4F26-B7AA-C9A03E1FC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154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93014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159602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478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EA7A77-3693-AB08-B432-738A66E5B289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CAC5A-7FA1-41DC-96ED-69EF3C1DEC4B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13601-6B35-4AE5-9573-D154E36A65C3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0C2DE-956F-46A7-8150-80344D7E4B13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D5240-193C-4A5C-813D-8E30722A70C6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4CE02-2DEC-45EE-A67D-E97E6D99F5AF}" type="datetime1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4C3B8-54C6-4E13-B4C5-B33631E8491A}" type="datetime1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D47D9-2BBF-45DC-94FA-3B300684BB31}" type="datetime1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5019-B37C-476C-963E-FDE5CEC7594D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BC941-F5D6-43DA-AEE2-E9080FC176F1}" type="datetime1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E309-1A31-4353-A2AB-A73AA0508E24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413A0-C943-4113-8205-D8FE2D20DC0B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AFBFA-3D5A-42ED-9DAD-4F8FBCC1AC61}" type="datetime1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1.xml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microsoft.com/office/2007/relationships/hdphoto" Target="../media/hdphoto4.wdp"/><Relationship Id="rId1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ructables.com/Chess-Robot-Raspberry-Pi-Lynxmotion-AL5D-Arm/?utm_source=chatgpt.com" TargetMode="External"/><Relationship Id="rId3" Type="http://schemas.openxmlformats.org/officeDocument/2006/relationships/hyperlink" Target="https://arxiv.org/abs/2405.18170?utm_source=chatgpt.com" TargetMode="External"/><Relationship Id="rId7" Type="http://schemas.openxmlformats.org/officeDocument/2006/relationships/hyperlink" Target="https://www.raspberrypi.com/news/raspberry-turk-chess-playing-robot/?utm_source=chatgpt.com" TargetMode="External"/><Relationship Id="rId2" Type="http://schemas.openxmlformats.org/officeDocument/2006/relationships/hyperlink" Target="https://www.researchgate.net/publication/347550843_Autonomous_chess-playing_robotic_arm_using_Raspberry_PI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irjana.in/wp-content/uploads/2025/06/1.SRJ23A608.pdf?utm_source=chatgpt.com" TargetMode="External"/><Relationship Id="rId5" Type="http://schemas.openxmlformats.org/officeDocument/2006/relationships/hyperlink" Target="https://www.mdpi.com/2079-9292/8/10/1154?utm_source=chatgpt.com" TargetMode="External"/><Relationship Id="rId10" Type="http://schemas.openxmlformats.org/officeDocument/2006/relationships/hyperlink" Target="https://aircconline.com/csit/papers/vol16/csit160408.pdf?utm_source=chatgpt.com" TargetMode="External"/><Relationship Id="rId4" Type="http://schemas.openxmlformats.org/officeDocument/2006/relationships/hyperlink" Target="https://www.diva-portal.org/smash/get/diva2%3A1462118/FULLTEXT01.pdf?utm_source=chatgpt.com" TargetMode="External"/><Relationship Id="rId9" Type="http://schemas.openxmlformats.org/officeDocument/2006/relationships/hyperlink" Target="https://wiki.control.fel.cvut.cz/mediawiki/images/6/6f/Dp_2023_paril_david.pdf?utm_source=chatgpt.com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6756" y="2162036"/>
            <a:ext cx="7772400" cy="1470025"/>
          </a:xfrm>
        </p:spPr>
        <p:txBody>
          <a:bodyPr>
            <a:noAutofit/>
          </a:bodyPr>
          <a:lstStyle/>
          <a:p>
            <a:r>
              <a:rPr lang="en-US" sz="4000" b="1" dirty="0"/>
              <a:t>AUTOMATED CHESS PLAYING ROBOT USING COMPUTER VISION AND ROBOTIC ARM</a:t>
            </a:r>
            <a:endParaRPr lang="en-IN" sz="40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" y="3957637"/>
            <a:ext cx="3335609" cy="175260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IN" sz="2000" i="1" dirty="0">
                <a:solidFill>
                  <a:schemeClr val="tx1"/>
                </a:solidFill>
              </a:rPr>
              <a:t>Under the supervision of:</a:t>
            </a:r>
            <a:br>
              <a:rPr lang="en-IN" sz="2000" i="1" dirty="0">
                <a:solidFill>
                  <a:schemeClr val="tx1"/>
                </a:solidFill>
              </a:rPr>
            </a:br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400" dirty="0" err="1">
                <a:solidFill>
                  <a:schemeClr val="tx1"/>
                </a:solidFill>
              </a:rPr>
              <a:t>Dr.</a:t>
            </a:r>
            <a:r>
              <a:rPr lang="en-IN" sz="2400" dirty="0">
                <a:solidFill>
                  <a:schemeClr val="tx1"/>
                </a:solidFill>
              </a:rPr>
              <a:t> </a:t>
            </a:r>
            <a:r>
              <a:rPr lang="en-IN" sz="2400" dirty="0" err="1">
                <a:solidFill>
                  <a:schemeClr val="tx1"/>
                </a:solidFill>
              </a:rPr>
              <a:t>Shaktijeet</a:t>
            </a:r>
            <a:r>
              <a:rPr lang="en-IN" sz="2400" dirty="0">
                <a:solidFill>
                  <a:schemeClr val="tx1"/>
                </a:solidFill>
              </a:rPr>
              <a:t> </a:t>
            </a:r>
            <a:r>
              <a:rPr lang="en-IN" sz="2400" dirty="0" err="1">
                <a:solidFill>
                  <a:schemeClr val="tx1"/>
                </a:solidFill>
              </a:rPr>
              <a:t>Mohapatra</a:t>
            </a:r>
            <a:r>
              <a:rPr lang="en-IN" sz="2400" dirty="0">
                <a:solidFill>
                  <a:schemeClr val="tx1"/>
                </a:solidFill>
              </a:rPr>
              <a:t>,</a:t>
            </a:r>
          </a:p>
          <a:p>
            <a:r>
              <a:rPr lang="en-IN" sz="2400" dirty="0">
                <a:solidFill>
                  <a:schemeClr val="tx1"/>
                </a:solidFill>
              </a:rPr>
              <a:t>Dr. Bhanja Kishor Swain</a:t>
            </a:r>
          </a:p>
          <a:p>
            <a:br>
              <a:rPr lang="en-IN" sz="2000" dirty="0">
                <a:solidFill>
                  <a:schemeClr val="tx1"/>
                </a:solidFill>
              </a:rPr>
            </a:br>
            <a:r>
              <a:rPr lang="en-IN" sz="2000" dirty="0">
                <a:solidFill>
                  <a:schemeClr val="tx1"/>
                </a:solidFill>
              </a:rPr>
              <a:t>Assistant Professor, CIOT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136525"/>
            <a:ext cx="2277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Sec. and Group No. </a:t>
            </a:r>
            <a:r>
              <a:rPr lang="en-IN" u="sng" dirty="0"/>
              <a:t>09</a:t>
            </a:r>
          </a:p>
        </p:txBody>
      </p:sp>
      <p:pic>
        <p:nvPicPr>
          <p:cNvPr id="1026" name="Picture 2" descr="SOA | SIKSHA 'O' ANUSANDHA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00" y="107625"/>
            <a:ext cx="1800000" cy="179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5487497" y="3957637"/>
            <a:ext cx="3674791" cy="22338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800" b="1" dirty="0">
                <a:solidFill>
                  <a:schemeClr val="tx1"/>
                </a:solidFill>
              </a:rPr>
              <a:t>Ashutosh Upadhyaya (2341021004)</a:t>
            </a:r>
          </a:p>
          <a:p>
            <a:pPr algn="l"/>
            <a:r>
              <a:rPr lang="en-IN" sz="1800" b="1" dirty="0">
                <a:solidFill>
                  <a:schemeClr val="tx1"/>
                </a:solidFill>
              </a:rPr>
              <a:t>Satyajit Panda(2341016091)</a:t>
            </a:r>
          </a:p>
          <a:p>
            <a:pPr algn="l"/>
            <a:r>
              <a:rPr lang="en-IN" sz="1800" b="1" dirty="0">
                <a:solidFill>
                  <a:schemeClr val="tx1"/>
                </a:solidFill>
              </a:rPr>
              <a:t>Satya Swarup Nayak (2341014076)</a:t>
            </a:r>
          </a:p>
          <a:p>
            <a:pPr algn="l"/>
            <a:r>
              <a:rPr lang="en-IN" sz="1800" b="1" dirty="0">
                <a:solidFill>
                  <a:schemeClr val="tx1"/>
                </a:solidFill>
              </a:rPr>
              <a:t>Arpan Senapati (2341019375)</a:t>
            </a:r>
          </a:p>
          <a:p>
            <a:pPr algn="l"/>
            <a:r>
              <a:rPr lang="en-IN" sz="1800" b="1" dirty="0">
                <a:solidFill>
                  <a:schemeClr val="tx1"/>
                </a:solidFill>
              </a:rPr>
              <a:t>Shashwat Mahapatra(2341013022)</a:t>
            </a:r>
          </a:p>
          <a:p>
            <a:pPr algn="l"/>
            <a:r>
              <a:rPr lang="en-IN" sz="1800" b="1" dirty="0">
                <a:solidFill>
                  <a:schemeClr val="tx1"/>
                </a:solidFill>
              </a:rPr>
              <a:t>Pratik Lauria (2341012006)</a:t>
            </a:r>
          </a:p>
          <a:p>
            <a:pPr algn="l"/>
            <a:r>
              <a:rPr lang="en-IN" sz="1800" b="1" dirty="0">
                <a:solidFill>
                  <a:schemeClr val="tx1"/>
                </a:solidFill>
              </a:rPr>
              <a:t>Shruti Sahoo (2341019153 )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3600" y="554059"/>
            <a:ext cx="6245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Robotics Programming Workshop -2 (CSE 3197)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chemeClr val="tx1"/>
                </a:solidFill>
              </a:rPr>
              <a:t>Centre for </a:t>
            </a:r>
            <a:r>
              <a:rPr lang="en-IN" sz="2000" b="1" dirty="0" err="1">
                <a:solidFill>
                  <a:schemeClr val="tx1"/>
                </a:solidFill>
              </a:rPr>
              <a:t>IoT</a:t>
            </a:r>
            <a:r>
              <a:rPr lang="en-IN" sz="2000" b="1" dirty="0">
                <a:solidFill>
                  <a:schemeClr val="tx1"/>
                </a:solidFill>
              </a:rPr>
              <a:t>, ITER, </a:t>
            </a:r>
            <a:r>
              <a:rPr lang="en-IN" sz="2000" b="1" dirty="0" err="1">
                <a:solidFill>
                  <a:schemeClr val="tx1"/>
                </a:solidFill>
              </a:rPr>
              <a:t>Siksha</a:t>
            </a:r>
            <a:r>
              <a:rPr lang="en-IN" sz="2000" b="1" dirty="0">
                <a:solidFill>
                  <a:schemeClr val="tx1"/>
                </a:solidFill>
              </a:rPr>
              <a:t> ‘O’ </a:t>
            </a:r>
            <a:r>
              <a:rPr lang="en-IN" sz="2000" b="1" dirty="0" err="1">
                <a:solidFill>
                  <a:schemeClr val="tx1"/>
                </a:solidFill>
              </a:rPr>
              <a:t>Anusandhan</a:t>
            </a:r>
            <a:r>
              <a:rPr lang="en-IN" sz="2000" b="1" dirty="0">
                <a:solidFill>
                  <a:schemeClr val="tx1"/>
                </a:solidFill>
              </a:rPr>
              <a:t> (Deemed to be University), Bhubaneswar </a:t>
            </a:r>
            <a:endParaRPr lang="en-IN" sz="2000" b="1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99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0A771B-EDFD-46CF-36D8-FBC149C87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486200"/>
              </p:ext>
            </p:extLst>
          </p:nvPr>
        </p:nvGraphicFramePr>
        <p:xfrm>
          <a:off x="1038225" y="1104900"/>
          <a:ext cx="7191375" cy="5486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80238">
                  <a:extLst>
                    <a:ext uri="{9D8B030D-6E8A-4147-A177-3AD203B41FA5}">
                      <a16:colId xmlns:a16="http://schemas.microsoft.com/office/drawing/2014/main" val="1304033597"/>
                    </a:ext>
                  </a:extLst>
                </a:gridCol>
                <a:gridCol w="1411137">
                  <a:extLst>
                    <a:ext uri="{9D8B030D-6E8A-4147-A177-3AD203B41FA5}">
                      <a16:colId xmlns:a16="http://schemas.microsoft.com/office/drawing/2014/main" val="76373115"/>
                    </a:ext>
                  </a:extLst>
                </a:gridCol>
              </a:tblGrid>
              <a:tr h="304359">
                <a:tc>
                  <a:txBody>
                    <a:bodyPr/>
                    <a:lstStyle/>
                    <a:p>
                      <a:r>
                        <a:rPr lang="en-US" sz="1400" b="1" u="sng" dirty="0">
                          <a:latin typeface="+mj-lt"/>
                        </a:rPr>
                        <a:t>Content</a:t>
                      </a:r>
                      <a:endParaRPr lang="en-IN" sz="1400" b="1" u="sng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u="sng" dirty="0" err="1"/>
                        <a:t>PageNo</a:t>
                      </a:r>
                      <a:r>
                        <a:rPr lang="en-US" sz="1400" b="1" u="sng" dirty="0"/>
                        <a:t>.</a:t>
                      </a:r>
                      <a:endParaRPr lang="en-IN" sz="1400" b="1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004114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US" sz="1400" b="1" dirty="0"/>
                        <a:t>Aim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3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2964761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US" sz="1400" b="1" dirty="0"/>
                        <a:t>Introduction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4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68851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IN" sz="1400" b="1" dirty="0"/>
                        <a:t>Literature survey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5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538889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IN" sz="1400" b="1" dirty="0"/>
                        <a:t>Motivation Behind Our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078466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IN" sz="1400" b="1" dirty="0"/>
                        <a:t>Project 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7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806223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IN" sz="1400" b="1" dirty="0"/>
                        <a:t>Block diagrams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8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9640416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IN" sz="1400" b="1" dirty="0"/>
                        <a:t>Circuit diagram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9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863055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IN" sz="1400" b="1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10-11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463643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IN" sz="1400" b="1" dirty="0"/>
                        <a:t>Model Implementation &amp;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12-17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347612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IN" sz="1400" b="1" dirty="0"/>
                        <a:t>Results, Analysis and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010618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US" sz="1400" b="1" dirty="0"/>
                        <a:t>Problem faced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19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605854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US" sz="1400" b="1" dirty="0"/>
                        <a:t>Areas of improvement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20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675732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US" sz="1400" b="1" dirty="0"/>
                        <a:t>Future opportunity 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21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3724696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US" sz="1400" b="1" dirty="0"/>
                        <a:t>Engineering tools and standards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22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151093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US" sz="1400" b="1" dirty="0"/>
                        <a:t>Project status</a:t>
                      </a:r>
                      <a:endParaRPr lang="en-IN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23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921385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IN" sz="1400" b="1" dirty="0"/>
                        <a:t>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24</a:t>
                      </a:r>
                      <a:endParaRPr lang="en-IN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750276"/>
                  </a:ext>
                </a:extLst>
              </a:tr>
              <a:tr h="304359">
                <a:tc>
                  <a:txBody>
                    <a:bodyPr/>
                    <a:lstStyle/>
                    <a:p>
                      <a:r>
                        <a:rPr lang="en-IN" sz="1400" b="1" dirty="0"/>
                        <a:t>Conclusion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844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65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0AF8DA1-E5DB-9A21-5DDD-A1110DABF3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47049"/>
            <a:ext cx="8305800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The aim of this project is to design and develop an Automated Chess Playing Robot using a robotic arm, Raspberry Pi 5, computer vision, and artificial intelligence. The robot is capable of detecting chess moves, analyzing the chessboard using a chess engine, and physically moving chess pieces automatically on the board.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Arial" panose="020B0604020202020204" pitchFamily="34" charset="0"/>
              </a:rPr>
              <a:t>The project aims to demonstrate the practical implementation of: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rial" panose="020B0604020202020204" pitchFamily="34" charset="0"/>
              </a:rPr>
              <a:t>Robotics and Automation 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rial" panose="020B0604020202020204" pitchFamily="34" charset="0"/>
              </a:rPr>
              <a:t>Embedded Systems 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rial" panose="020B0604020202020204" pitchFamily="34" charset="0"/>
              </a:rPr>
              <a:t>AI-based decision making 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rial" panose="020B0604020202020204" pitchFamily="34" charset="0"/>
              </a:rPr>
              <a:t>Human-machine interaction 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rial" panose="020B0604020202020204" pitchFamily="34" charset="0"/>
              </a:rPr>
              <a:t>Intelligent control systems</a:t>
            </a:r>
          </a:p>
          <a:p>
            <a:pPr marL="685800" lvl="1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latin typeface="Arial" panose="020B0604020202020204" pitchFamily="34" charset="0"/>
              </a:rPr>
              <a:t> make it in form of bullet points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833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2087"/>
            <a:ext cx="8229600" cy="5121275"/>
          </a:xfrm>
        </p:spPr>
        <p:txBody>
          <a:bodyPr>
            <a:noAutofit/>
          </a:bodyPr>
          <a:lstStyle/>
          <a:p>
            <a:r>
              <a:rPr lang="en-US" sz="2400" dirty="0"/>
              <a:t>The Automated Chess Playing Robot is an intelligent robotic system designed to play chess autonomously using a robotic arm, Raspberry Pi 5, computer vision, and artificial intelligence. </a:t>
            </a:r>
          </a:p>
          <a:p>
            <a:r>
              <a:rPr lang="en-US" sz="2400" dirty="0"/>
              <a:t>The system is capable of detecting chess moves, analyzing the game using Stockfish, and physically moving chess pieces on the board without human assistance.</a:t>
            </a:r>
          </a:p>
          <a:p>
            <a:r>
              <a:rPr lang="en-US" sz="2400" dirty="0"/>
              <a:t>This project combines the concepts of robotics, embedded systems, automation, and AI to create a smart and interactive system</a:t>
            </a:r>
            <a:endParaRPr lang="en-I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30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525"/>
            <a:ext cx="8229600" cy="1143000"/>
          </a:xfrm>
        </p:spPr>
        <p:txBody>
          <a:bodyPr/>
          <a:lstStyle/>
          <a:p>
            <a:r>
              <a:rPr lang="en-IN" dirty="0"/>
              <a:t>Literature survey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1"/>
            <a:ext cx="8077200" cy="365760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endParaRPr lang="en-IN" sz="2400" dirty="0"/>
          </a:p>
          <a:p>
            <a:endParaRPr lang="en-IN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7B450-CEF4-DB5F-CA83-ECB8300C9236}"/>
              </a:ext>
            </a:extLst>
          </p:cNvPr>
          <p:cNvSpPr txBox="1"/>
          <p:nvPr/>
        </p:nvSpPr>
        <p:spPr>
          <a:xfrm>
            <a:off x="762000" y="1993069"/>
            <a:ext cx="79248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Existing systems used Arduino and Raspberry Pi for robotic control.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Some projects implemented OpenCV for chessboard detection.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AI engines like Stockfish were used for move prediction.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Previous designs focused mainly on robotic movement or vision separately.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Our project combines computer vision, AI decision-making, and robotic automation together. </a:t>
            </a:r>
          </a:p>
        </p:txBody>
      </p:sp>
    </p:spTree>
    <p:extLst>
      <p:ext uri="{BB962C8B-B14F-4D97-AF65-F5344CB8AC3E}">
        <p14:creationId xmlns:p14="http://schemas.microsoft.com/office/powerpoint/2010/main" val="3679089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1CFF2-ED79-E7BB-4048-186A487A0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 Behind Our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DB43C-C5AF-2ECC-62E1-5AC7249B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F654831-B7B5-9921-5AB6-429484F172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7638"/>
            <a:ext cx="8534400" cy="3351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combine robotics and artificial intelligence in a practical application.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explore automation in strategic board games.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low-cost educational robotics system.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knowledge in embedded systems and AI integration.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demonstrate real-world robotic automation concepts. </a:t>
            </a:r>
          </a:p>
        </p:txBody>
      </p:sp>
    </p:spTree>
    <p:extLst>
      <p:ext uri="{BB962C8B-B14F-4D97-AF65-F5344CB8AC3E}">
        <p14:creationId xmlns:p14="http://schemas.microsoft.com/office/powerpoint/2010/main" val="230542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985A8-7B23-EC36-CC14-858B9A72F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97EA-E392-06BB-1193-8236FCF93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68024-3073-86A7-33C5-8322CE1B1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To develop an automated chess playing robot using a robotic arm and Raspberry Pi 5. </a:t>
            </a:r>
          </a:p>
          <a:p>
            <a:r>
              <a:rPr lang="en-US" sz="2400" dirty="0"/>
              <a:t>To detect and analyze chess moves using computer vision techniques. </a:t>
            </a:r>
          </a:p>
          <a:p>
            <a:r>
              <a:rPr lang="en-US" sz="2400" dirty="0"/>
              <a:t>To integrate Stockfish for intelligent move generation and decision making. </a:t>
            </a:r>
          </a:p>
          <a:p>
            <a:r>
              <a:rPr lang="en-US" sz="2400" dirty="0"/>
              <a:t>To automate the physical movement of chess pieces using robotic arm control. </a:t>
            </a:r>
          </a:p>
          <a:p>
            <a:r>
              <a:rPr lang="en-US" sz="2400" dirty="0"/>
              <a:t>To demonstrate the application of robotics, AI, and embedded systems in real-world automation.</a:t>
            </a: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A00B1-D9AE-DC67-C46C-9D769BC4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76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73"/>
            <a:ext cx="8229600" cy="1143000"/>
          </a:xfrm>
        </p:spPr>
        <p:txBody>
          <a:bodyPr/>
          <a:lstStyle/>
          <a:p>
            <a:r>
              <a:rPr lang="en-IN" dirty="0"/>
              <a:t>Block diagrams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358755-C1C1-AFC7-6019-F5031B18A956}"/>
              </a:ext>
            </a:extLst>
          </p:cNvPr>
          <p:cNvSpPr txBox="1"/>
          <p:nvPr/>
        </p:nvSpPr>
        <p:spPr>
          <a:xfrm>
            <a:off x="6248400" y="1482557"/>
            <a:ext cx="251460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RASPBERRY PI 5:</a:t>
            </a:r>
          </a:p>
          <a:p>
            <a:r>
              <a:rPr lang="en-IN" dirty="0"/>
              <a:t>• Image Processing</a:t>
            </a:r>
          </a:p>
          <a:p>
            <a:r>
              <a:rPr lang="en-IN" dirty="0"/>
              <a:t>• Chess Detection </a:t>
            </a:r>
          </a:p>
          <a:p>
            <a:r>
              <a:rPr lang="en-IN" dirty="0"/>
              <a:t>• AI / Stockfish </a:t>
            </a:r>
            <a:br>
              <a:rPr lang="en-IN" dirty="0"/>
            </a:br>
            <a:r>
              <a:rPr lang="en-IN" dirty="0"/>
              <a:t>• Move Calculation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A1B13E-4629-9ABD-5CCC-8A3A6DF18D9A}"/>
              </a:ext>
            </a:extLst>
          </p:cNvPr>
          <p:cNvSpPr txBox="1"/>
          <p:nvPr/>
        </p:nvSpPr>
        <p:spPr>
          <a:xfrm>
            <a:off x="990600" y="1759556"/>
            <a:ext cx="1676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INPUT:</a:t>
            </a:r>
          </a:p>
          <a:p>
            <a:pPr algn="ctr"/>
            <a:r>
              <a:rPr lang="en-US" dirty="0"/>
              <a:t>USB camera for </a:t>
            </a:r>
            <a:r>
              <a:rPr lang="en-IN" dirty="0"/>
              <a:t>(Board Capture)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91887-8856-E331-2594-E5C54F135375}"/>
              </a:ext>
            </a:extLst>
          </p:cNvPr>
          <p:cNvSpPr txBox="1"/>
          <p:nvPr/>
        </p:nvSpPr>
        <p:spPr>
          <a:xfrm>
            <a:off x="990600" y="3724870"/>
            <a:ext cx="167640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Waits for the  opponent’s  next move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5159A2-32AF-C7D4-F7D5-CD48613DD517}"/>
              </a:ext>
            </a:extLst>
          </p:cNvPr>
          <p:cNvSpPr txBox="1"/>
          <p:nvPr/>
        </p:nvSpPr>
        <p:spPr>
          <a:xfrm>
            <a:off x="3200400" y="3276600"/>
            <a:ext cx="25146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CONTROL SIGNALS:</a:t>
            </a:r>
          </a:p>
          <a:p>
            <a:pPr algn="ctr"/>
            <a:r>
              <a:rPr lang="en-IN" dirty="0"/>
              <a:t>16 Channel servo driver</a:t>
            </a:r>
          </a:p>
          <a:p>
            <a:pPr algn="ctr"/>
            <a:r>
              <a:rPr lang="en-IN" dirty="0"/>
              <a:t>Gives command to the servos of the arm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A1843A-D927-B382-C5E2-964327FBFEF2}"/>
              </a:ext>
            </a:extLst>
          </p:cNvPr>
          <p:cNvSpPr txBox="1"/>
          <p:nvPr/>
        </p:nvSpPr>
        <p:spPr>
          <a:xfrm>
            <a:off x="6781800" y="4966900"/>
            <a:ext cx="16764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ROBOTIC ARM </a:t>
            </a:r>
            <a:br>
              <a:rPr lang="en-IN" dirty="0"/>
            </a:br>
            <a:r>
              <a:rPr lang="en-IN" dirty="0"/>
              <a:t>(Pick &amp; Place)</a:t>
            </a:r>
          </a:p>
          <a:p>
            <a:pPr algn="ctr"/>
            <a:r>
              <a:rPr lang="en-IN" dirty="0"/>
              <a:t>Moves Chess Piece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E1CAF2-53AE-D838-AE34-D7676E902DDC}"/>
              </a:ext>
            </a:extLst>
          </p:cNvPr>
          <p:cNvCxnSpPr>
            <a:cxnSpLocks/>
          </p:cNvCxnSpPr>
          <p:nvPr/>
        </p:nvCxnSpPr>
        <p:spPr>
          <a:xfrm>
            <a:off x="2781300" y="2221221"/>
            <a:ext cx="33528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467B77F-AC8B-F584-BC33-830F46FA2FAF}"/>
              </a:ext>
            </a:extLst>
          </p:cNvPr>
          <p:cNvCxnSpPr>
            <a:cxnSpLocks/>
          </p:cNvCxnSpPr>
          <p:nvPr/>
        </p:nvCxnSpPr>
        <p:spPr>
          <a:xfrm rot="5400000">
            <a:off x="6343861" y="2478552"/>
            <a:ext cx="692751" cy="171450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845696F-43F4-2903-90A3-9939011155DE}"/>
              </a:ext>
            </a:extLst>
          </p:cNvPr>
          <p:cNvCxnSpPr>
            <a:cxnSpLocks/>
          </p:cNvCxnSpPr>
          <p:nvPr/>
        </p:nvCxnSpPr>
        <p:spPr>
          <a:xfrm>
            <a:off x="5832987" y="3964497"/>
            <a:ext cx="1752600" cy="94726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2C7987-6962-9FD5-3485-7572AE59C5C6}"/>
              </a:ext>
            </a:extLst>
          </p:cNvPr>
          <p:cNvCxnSpPr>
            <a:cxnSpLocks/>
          </p:cNvCxnSpPr>
          <p:nvPr/>
        </p:nvCxnSpPr>
        <p:spPr>
          <a:xfrm flipH="1">
            <a:off x="4572000" y="5567064"/>
            <a:ext cx="210041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2027074-6494-6E01-358D-4AC3B241BB2A}"/>
              </a:ext>
            </a:extLst>
          </p:cNvPr>
          <p:cNvCxnSpPr>
            <a:cxnSpLocks/>
          </p:cNvCxnSpPr>
          <p:nvPr/>
        </p:nvCxnSpPr>
        <p:spPr>
          <a:xfrm flipV="1">
            <a:off x="1600200" y="2809776"/>
            <a:ext cx="0" cy="7865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C152E83-03C3-85A2-1D73-81872CF5E3B3}"/>
              </a:ext>
            </a:extLst>
          </p:cNvPr>
          <p:cNvSpPr txBox="1"/>
          <p:nvPr/>
        </p:nvSpPr>
        <p:spPr>
          <a:xfrm>
            <a:off x="2895600" y="5243898"/>
            <a:ext cx="16764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Arm returns to base position</a:t>
            </a:r>
            <a:endParaRPr lang="en-IN" dirty="0"/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84D99EB7-21A2-C4A4-13F2-768DF69B0A52}"/>
              </a:ext>
            </a:extLst>
          </p:cNvPr>
          <p:cNvCxnSpPr>
            <a:cxnSpLocks/>
          </p:cNvCxnSpPr>
          <p:nvPr/>
        </p:nvCxnSpPr>
        <p:spPr>
          <a:xfrm rot="10800000">
            <a:off x="1714500" y="4655491"/>
            <a:ext cx="1066800" cy="930284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30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Circuit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A1E80F-88A5-D4F3-1BA5-3C0ABA5FF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377546"/>
            <a:ext cx="8839200" cy="4960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306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E62C0E2-FD00-EADB-5574-C071B7DA4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493135"/>
              </p:ext>
            </p:extLst>
          </p:nvPr>
        </p:nvGraphicFramePr>
        <p:xfrm>
          <a:off x="457200" y="1219200"/>
          <a:ext cx="8229600" cy="48006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3012247978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42609084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09503569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en-IN" b="1" u="sng" dirty="0"/>
                        <a:t>Processing &amp; Control 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u="sng" dirty="0"/>
                        <a:t>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u="sng" dirty="0"/>
                        <a:t>Quantity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432529"/>
                  </a:ext>
                </a:extLst>
              </a:tr>
              <a:tr h="826270">
                <a:tc>
                  <a:txBody>
                    <a:bodyPr/>
                    <a:lstStyle/>
                    <a:p>
                      <a:r>
                        <a:rPr lang="en-IN" dirty="0"/>
                        <a:t>Raspberry Pi 5(2Gb)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658148"/>
                  </a:ext>
                </a:extLst>
              </a:tr>
              <a:tr h="773930">
                <a:tc>
                  <a:txBody>
                    <a:bodyPr/>
                    <a:lstStyle/>
                    <a:p>
                      <a:r>
                        <a:rPr lang="en-IN" dirty="0"/>
                        <a:t>PCA9685 16-Channel Servo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75509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IN" dirty="0"/>
                        <a:t>USB Webcam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30655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MG995 Servo Motor &amp; MG90S Metal Gear Servo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 each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259849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IN" dirty="0"/>
                        <a:t>Robotic 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93008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BC5E1F1E-A13E-B154-96B3-DB3865BBA7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4000" b="75556" l="8889" r="91111">
                        <a14:foregroundMark x1="21778" y1="36889" x2="21778" y2="36889"/>
                        <a14:foregroundMark x1="13778" y1="35556" x2="13778" y2="35556"/>
                        <a14:foregroundMark x1="12444" y1="28889" x2="12444" y2="28889"/>
                        <a14:foregroundMark x1="11556" y1="26667" x2="11556" y2="26667"/>
                        <a14:foregroundMark x1="19111" y1="71111" x2="19111" y2="71111"/>
                        <a14:foregroundMark x1="33333" y1="71111" x2="33333" y2="71111"/>
                        <a14:foregroundMark x1="44444" y1="71111" x2="44444" y2="71111"/>
                        <a14:foregroundMark x1="67111" y1="71556" x2="67111" y2="71556"/>
                        <a14:foregroundMark x1="76444" y1="71556" x2="76444" y2="71556"/>
                        <a14:foregroundMark x1="81778" y1="70222" x2="81778" y2="70222"/>
                        <a14:foregroundMark x1="73778" y1="67556" x2="73778" y2="67556"/>
                        <a14:foregroundMark x1="73333" y1="66222" x2="73333" y2="66222"/>
                        <a14:foregroundMark x1="73333" y1="64889" x2="73333" y2="64889"/>
                        <a14:foregroundMark x1="12444" y1="72000" x2="12444" y2="72000"/>
                        <a14:foregroundMark x1="85333" y1="68889" x2="85333" y2="68889"/>
                        <a14:foregroundMark x1="81333" y1="66222" x2="81333" y2="66222"/>
                        <a14:foregroundMark x1="79556" y1="64444" x2="79556" y2="64444"/>
                        <a14:foregroundMark x1="80444" y1="48444" x2="80444" y2="48444"/>
                        <a14:foregroundMark x1="80444" y1="48444" x2="80444" y2="48444"/>
                        <a14:foregroundMark x1="80444" y1="48444" x2="80444" y2="48444"/>
                        <a14:foregroundMark x1="79556" y1="47111" x2="79556" y2="47111"/>
                        <a14:foregroundMark x1="87111" y1="45778" x2="87111" y2="45778"/>
                        <a14:foregroundMark x1="88000" y1="49778" x2="88000" y2="49778"/>
                        <a14:foregroundMark x1="88444" y1="52000" x2="88444" y2="52000"/>
                        <a14:foregroundMark x1="88889" y1="49333" x2="88889" y2="49333"/>
                        <a14:foregroundMark x1="88889" y1="46222" x2="88889" y2="46222"/>
                        <a14:foregroundMark x1="89333" y1="44444" x2="89333" y2="44444"/>
                        <a14:foregroundMark x1="88444" y1="35111" x2="88444" y2="35111"/>
                        <a14:foregroundMark x1="88444" y1="28000" x2="88444" y2="28000"/>
                        <a14:foregroundMark x1="89333" y1="24889" x2="89333" y2="24889"/>
                        <a14:foregroundMark x1="89333" y1="24889" x2="89333" y2="24889"/>
                        <a14:foregroundMark x1="88444" y1="24000" x2="88444" y2="24000"/>
                        <a14:foregroundMark x1="9333" y1="72000" x2="9333" y2="72000"/>
                        <a14:foregroundMark x1="10222" y1="74222" x2="10222" y2="74222"/>
                        <a14:foregroundMark x1="13778" y1="75556" x2="13778" y2="75556"/>
                        <a14:foregroundMark x1="12000" y1="75556" x2="12000" y2="75556"/>
                        <a14:foregroundMark x1="88444" y1="52889" x2="88444" y2="52889"/>
                        <a14:foregroundMark x1="88000" y1="30222" x2="88000" y2="30222"/>
                        <a14:foregroundMark x1="91111" y1="26222" x2="91111" y2="26222"/>
                        <a14:foregroundMark x1="88889" y1="53778" x2="88889" y2="53778"/>
                        <a14:foregroundMark x1="90667" y1="50667" x2="90667" y2="50667"/>
                        <a14:foregroundMark x1="90222" y1="51556" x2="90222" y2="51556"/>
                        <a14:foregroundMark x1="89333" y1="46667" x2="89333" y2="46667"/>
                        <a14:foregroundMark x1="86222" y1="75111" x2="86222" y2="75111"/>
                      </a14:backgroundRemoval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334" t="18001" r="7334" b="17999"/>
          <a:stretch>
            <a:fillRect/>
          </a:stretch>
        </p:blipFill>
        <p:spPr>
          <a:xfrm>
            <a:off x="5144091" y="1737231"/>
            <a:ext cx="1016000" cy="76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E25CD9-9E9D-0856-FE13-520721A25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88393" y1="39286" x2="88393" y2="39286"/>
                      </a14:backgroundRemoval>
                    </a14:imgEffect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8571" b="25000"/>
          <a:stretch>
            <a:fillRect/>
          </a:stretch>
        </p:blipFill>
        <p:spPr>
          <a:xfrm>
            <a:off x="4760042" y="2516437"/>
            <a:ext cx="1641231" cy="76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759FC8-A6D6-3A53-6CBE-FCABAA752F6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592" b="89796" l="5814" r="94186">
                        <a14:foregroundMark x1="10078" y1="16327" x2="10078" y2="16327"/>
                        <a14:foregroundMark x1="17054" y1="17347" x2="17054" y2="17347"/>
                        <a14:foregroundMark x1="17442" y1="17347" x2="17442" y2="17347"/>
                        <a14:foregroundMark x1="5814" y1="18367" x2="5814" y2="18367"/>
                        <a14:foregroundMark x1="82171" y1="16327" x2="82171" y2="16327"/>
                        <a14:foregroundMark x1="82171" y1="17347" x2="82171" y2="17347"/>
                        <a14:foregroundMark x1="82171" y1="17347" x2="82171" y2="17347"/>
                        <a14:foregroundMark x1="81395" y1="20918" x2="71705" y2="28061"/>
                        <a14:foregroundMark x1="59690" y1="30102" x2="59690" y2="30102"/>
                        <a14:foregroundMark x1="63953" y1="30102" x2="63953" y2="30102"/>
                        <a14:foregroundMark x1="63953" y1="16327" x2="63953" y2="16327"/>
                        <a14:foregroundMark x1="64341" y1="16327" x2="64341" y2="16327"/>
                        <a14:foregroundMark x1="48450" y1="10204" x2="48450" y2="10204"/>
                        <a14:foregroundMark x1="44961" y1="8673" x2="44961" y2="8673"/>
                        <a14:foregroundMark x1="39535" y1="6633" x2="37597" y2="6633"/>
                        <a14:foregroundMark x1="27907" y1="5102" x2="27907" y2="5102"/>
                        <a14:foregroundMark x1="94186" y1="22449" x2="94186" y2="2244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3065" t="-601" r="3065" b="14432"/>
          <a:stretch>
            <a:fillRect/>
          </a:stretch>
        </p:blipFill>
        <p:spPr>
          <a:xfrm>
            <a:off x="5062901" y="3312850"/>
            <a:ext cx="1037368" cy="6721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CD875-8FBD-9095-E86A-C71CB80F27A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1875" b="74875" l="18625" r="84625">
                        <a14:foregroundMark x1="21000" y1="40375" x2="21000" y2="40375"/>
                        <a14:foregroundMark x1="22875" y1="40625" x2="22875" y2="40625"/>
                        <a14:foregroundMark x1="60500" y1="28750" x2="60500" y2="28750"/>
                        <a14:foregroundMark x1="64750" y1="28750" x2="64750" y2="28750"/>
                        <a14:foregroundMark x1="65750" y1="28750" x2="65750" y2="28750"/>
                        <a14:foregroundMark x1="37125" y1="22125" x2="37125" y2="22125"/>
                        <a14:foregroundMark x1="41750" y1="22875" x2="41750" y2="22875"/>
                        <a14:foregroundMark x1="41500" y1="21875" x2="41500" y2="21875"/>
                        <a14:foregroundMark x1="22000" y1="34375" x2="22000" y2="34375"/>
                        <a14:foregroundMark x1="18625" y1="38750" x2="18625" y2="38750"/>
                        <a14:foregroundMark x1="84625" y1="41000" x2="84625" y2="41000"/>
                        <a14:foregroundMark x1="39500" y1="74750" x2="39500" y2="7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934" t="18889" r="10440" b="18889"/>
          <a:stretch>
            <a:fillRect/>
          </a:stretch>
        </p:blipFill>
        <p:spPr>
          <a:xfrm>
            <a:off x="4760042" y="4110763"/>
            <a:ext cx="648719" cy="542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F3E1E4-1AD3-DD90-4F23-820FC5CE92D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3800" b="73400" l="24200" r="77100">
                        <a14:foregroundMark x1="30800" y1="43100" x2="30800" y2="43100"/>
                        <a14:foregroundMark x1="25800" y1="44200" x2="25800" y2="44200"/>
                        <a14:foregroundMark x1="25700" y1="46300" x2="25700" y2="46300"/>
                        <a14:foregroundMark x1="45400" y1="61200" x2="45400" y2="61200"/>
                        <a14:foregroundMark x1="46200" y1="62000" x2="46200" y2="62000"/>
                        <a14:foregroundMark x1="45200" y1="61000" x2="45200" y2="61000"/>
                        <a14:foregroundMark x1="43600" y1="62600" x2="43600" y2="62600"/>
                        <a14:foregroundMark x1="44100" y1="62400" x2="44100" y2="62400"/>
                        <a14:foregroundMark x1="45000" y1="62200" x2="45000" y2="62200"/>
                        <a14:foregroundMark x1="46200" y1="61600" x2="46200" y2="61600"/>
                        <a14:foregroundMark x1="48600" y1="60900" x2="48600" y2="60900"/>
                        <a14:foregroundMark x1="49100" y1="61200" x2="49100" y2="61200"/>
                        <a14:foregroundMark x1="49700" y1="61000" x2="49700" y2="61000"/>
                        <a14:foregroundMark x1="49900" y1="60900" x2="49900" y2="60900"/>
                        <a14:foregroundMark x1="49900" y1="63300" x2="49900" y2="63300"/>
                        <a14:foregroundMark x1="53800" y1="61700" x2="53800" y2="61700"/>
                        <a14:foregroundMark x1="53300" y1="61700" x2="53300" y2="61700"/>
                        <a14:foregroundMark x1="55600" y1="61700" x2="55600" y2="61700"/>
                        <a14:foregroundMark x1="56900" y1="61000" x2="56900" y2="61000"/>
                        <a14:foregroundMark x1="58400" y1="61200" x2="58400" y2="61200"/>
                        <a14:foregroundMark x1="58900" y1="62600" x2="58900" y2="62600"/>
                        <a14:foregroundMark x1="56400" y1="62700" x2="56400" y2="62700"/>
                        <a14:foregroundMark x1="44200" y1="66300" x2="44200" y2="66300"/>
                        <a14:foregroundMark x1="41000" y1="57000" x2="41000" y2="57000"/>
                        <a14:foregroundMark x1="42800" y1="57300" x2="42800" y2="57300"/>
                        <a14:foregroundMark x1="46300" y1="58000" x2="46300" y2="58000"/>
                        <a14:foregroundMark x1="50500" y1="57500" x2="50500" y2="57500"/>
                        <a14:foregroundMark x1="55000" y1="57900" x2="55000" y2="57900"/>
                        <a14:foregroundMark x1="63200" y1="57800" x2="63200" y2="57800"/>
                        <a14:foregroundMark x1="58000" y1="57800" x2="58000" y2="57800"/>
                        <a14:foregroundMark x1="41200" y1="27700" x2="41200" y2="27700"/>
                        <a14:foregroundMark x1="43700" y1="26100" x2="43700" y2="26100"/>
                        <a14:foregroundMark x1="44200" y1="25900" x2="44200" y2="25900"/>
                        <a14:foregroundMark x1="45200" y1="24700" x2="45200" y2="24700"/>
                        <a14:foregroundMark x1="40200" y1="24400" x2="40200" y2="24400"/>
                        <a14:foregroundMark x1="40100" y1="24200" x2="40100" y2="24200"/>
                        <a14:foregroundMark x1="44400" y1="23800" x2="44400" y2="23800"/>
                        <a14:foregroundMark x1="37500" y1="25500" x2="37500" y2="25500"/>
                        <a14:foregroundMark x1="39700" y1="25800" x2="39700" y2="25800"/>
                        <a14:foregroundMark x1="39700" y1="25200" x2="39700" y2="25200"/>
                        <a14:foregroundMark x1="39500" y1="24400" x2="39500" y2="24400"/>
                        <a14:foregroundMark x1="39800" y1="24300" x2="39300" y2="25800"/>
                        <a14:foregroundMark x1="38900" y1="26800" x2="38900" y2="26800"/>
                        <a14:foregroundMark x1="39200" y1="27700" x2="39200" y2="27700"/>
                        <a14:foregroundMark x1="47900" y1="62000" x2="47900" y2="62000"/>
                        <a14:foregroundMark x1="55400" y1="62000" x2="55400" y2="62000"/>
                        <a14:foregroundMark x1="31400" y1="65600" x2="31400" y2="65600"/>
                        <a14:foregroundMark x1="29000" y1="68100" x2="29000" y2="68100"/>
                        <a14:foregroundMark x1="24200" y1="66900" x2="24200" y2="66900"/>
                        <a14:foregroundMark x1="24600" y1="66500" x2="24600" y2="66500"/>
                        <a14:foregroundMark x1="24600" y1="66400" x2="24600" y2="66400"/>
                        <a14:foregroundMark x1="26600" y1="65400" x2="26600" y2="65400"/>
                        <a14:foregroundMark x1="26900" y1="64400" x2="26900" y2="64400"/>
                        <a14:foregroundMark x1="31800" y1="65800" x2="31800" y2="65800"/>
                        <a14:foregroundMark x1="77100" y1="46300" x2="77100" y2="46300"/>
                        <a14:foregroundMark x1="76500" y1="44300" x2="76500" y2="44300"/>
                      </a14:backgroundRemoval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333" t="20742" r="18889" b="20742"/>
          <a:stretch>
            <a:fillRect/>
          </a:stretch>
        </p:blipFill>
        <p:spPr>
          <a:xfrm>
            <a:off x="5728422" y="4041143"/>
            <a:ext cx="672851" cy="6814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C8A52B-A930-218B-C097-C569D67129E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3407" y="4864507"/>
            <a:ext cx="1037368" cy="10845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702E3D1-49E7-5C2A-DFA4-4EDDBB19E09F}"/>
                  </a:ext>
                </a:extLst>
              </p14:cNvPr>
              <p14:cNvContentPartPr/>
              <p14:nvPr/>
            </p14:nvContentPartPr>
            <p14:xfrm>
              <a:off x="2152941" y="1967391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702E3D1-49E7-5C2A-DFA4-4EDDBB19E09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46821" y="196127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3306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AEE482-44FF-3D1B-756A-AA1934BD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5E168A-11F2-52AE-228D-ECA88F7CC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917161"/>
              </p:ext>
            </p:extLst>
          </p:nvPr>
        </p:nvGraphicFramePr>
        <p:xfrm>
          <a:off x="609600" y="381000"/>
          <a:ext cx="8229600" cy="1706562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892290">
                  <a:extLst>
                    <a:ext uri="{9D8B030D-6E8A-4147-A177-3AD203B41FA5}">
                      <a16:colId xmlns:a16="http://schemas.microsoft.com/office/drawing/2014/main" val="3012247978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3095035694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r>
                        <a:rPr lang="en-IN" dirty="0"/>
                        <a:t>Power Supply Components</a:t>
                      </a:r>
                      <a:endParaRPr lang="en-IN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u="sng" dirty="0"/>
                        <a:t>Quantity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432529"/>
                  </a:ext>
                </a:extLst>
              </a:tr>
              <a:tr h="426402">
                <a:tc>
                  <a:txBody>
                    <a:bodyPr/>
                    <a:lstStyle/>
                    <a:p>
                      <a:r>
                        <a:rPr lang="en-IN" dirty="0"/>
                        <a:t>18650 Li-ion Battery Pack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65814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dirty="0"/>
                        <a:t>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75509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dirty="0"/>
                        <a:t>Power 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9235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F301DB0-CA42-2492-2A4C-566990F3F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013677"/>
              </p:ext>
            </p:extLst>
          </p:nvPr>
        </p:nvGraphicFramePr>
        <p:xfrm>
          <a:off x="609600" y="2438400"/>
          <a:ext cx="8229600" cy="2163762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6892290">
                  <a:extLst>
                    <a:ext uri="{9D8B030D-6E8A-4147-A177-3AD203B41FA5}">
                      <a16:colId xmlns:a16="http://schemas.microsoft.com/office/drawing/2014/main" val="3170725986"/>
                    </a:ext>
                  </a:extLst>
                </a:gridCol>
                <a:gridCol w="1337310">
                  <a:extLst>
                    <a:ext uri="{9D8B030D-6E8A-4147-A177-3AD203B41FA5}">
                      <a16:colId xmlns:a16="http://schemas.microsoft.com/office/drawing/2014/main" val="300823003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r>
                        <a:rPr lang="en-IN" dirty="0"/>
                        <a:t>Other Components</a:t>
                      </a:r>
                      <a:endParaRPr lang="en-IN" b="1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u="sng" dirty="0"/>
                        <a:t>Quantity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609663"/>
                  </a:ext>
                </a:extLst>
              </a:tr>
              <a:tr h="426402">
                <a:tc>
                  <a:txBody>
                    <a:bodyPr/>
                    <a:lstStyle/>
                    <a:p>
                      <a:r>
                        <a:rPr lang="en-IN" dirty="0"/>
                        <a:t>Standard Chessboard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2900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dirty="0"/>
                        <a:t>Jumper Wires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Multiple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00713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dirty="0"/>
                        <a:t>Flat 2.5x2.5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4163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IN" dirty="0"/>
                        <a:t>Breadboard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943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546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ACD86B-7BF2-F7F1-F5A6-30032F15A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Implementation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D521846-9C1A-794A-7BF9-971583127B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7681" y="1600200"/>
            <a:ext cx="5128637" cy="452596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DEEC0A-ADDC-C384-C8F7-98D1F9643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079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7D88C-0792-3022-3D1C-E9E89568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71136E-3CA9-A279-661D-132133174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30" y="68001"/>
            <a:ext cx="6906589" cy="66303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A72900-7A0F-5658-3099-D16153F980DF}"/>
              </a:ext>
            </a:extLst>
          </p:cNvPr>
          <p:cNvSpPr txBox="1"/>
          <p:nvPr/>
        </p:nvSpPr>
        <p:spPr>
          <a:xfrm>
            <a:off x="7154209" y="2403184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Raspberry pi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ECB2E5-F1CA-4411-4465-8514679F4BB1}"/>
              </a:ext>
            </a:extLst>
          </p:cNvPr>
          <p:cNvSpPr txBox="1"/>
          <p:nvPr/>
        </p:nvSpPr>
        <p:spPr>
          <a:xfrm>
            <a:off x="7239000" y="2969030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Battery unit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DADD7-A95D-BBD2-C898-56FD19B63EC2}"/>
              </a:ext>
            </a:extLst>
          </p:cNvPr>
          <p:cNvSpPr txBox="1"/>
          <p:nvPr/>
        </p:nvSpPr>
        <p:spPr>
          <a:xfrm>
            <a:off x="7107428" y="4909879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Robotic arm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8BEC59-427F-7DF0-64FC-AA8CC09EFDE2}"/>
              </a:ext>
            </a:extLst>
          </p:cNvPr>
          <p:cNvSpPr txBox="1"/>
          <p:nvPr/>
        </p:nvSpPr>
        <p:spPr>
          <a:xfrm>
            <a:off x="7405868" y="1700012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camera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7DEABD-7EF4-F12D-07B8-DB362B60AE10}"/>
              </a:ext>
            </a:extLst>
          </p:cNvPr>
          <p:cNvSpPr txBox="1"/>
          <p:nvPr/>
        </p:nvSpPr>
        <p:spPr>
          <a:xfrm>
            <a:off x="7072794" y="3763657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Motor driver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AED45DD-1C82-E3E1-9FF8-5AB94D34A381}"/>
              </a:ext>
            </a:extLst>
          </p:cNvPr>
          <p:cNvCxnSpPr/>
          <p:nvPr/>
        </p:nvCxnSpPr>
        <p:spPr>
          <a:xfrm>
            <a:off x="5706409" y="3117055"/>
            <a:ext cx="14478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10240D-0231-CB18-B77A-F2D837913A9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4379179" y="2587850"/>
            <a:ext cx="2775030" cy="3634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8719DE-F491-022A-E29B-2133C8E903F8}"/>
              </a:ext>
            </a:extLst>
          </p:cNvPr>
          <p:cNvCxnSpPr>
            <a:cxnSpLocks/>
          </p:cNvCxnSpPr>
          <p:nvPr/>
        </p:nvCxnSpPr>
        <p:spPr>
          <a:xfrm>
            <a:off x="4782063" y="3152204"/>
            <a:ext cx="2148068" cy="7545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34E8060-187A-3833-73F1-7C8D2D6E5733}"/>
              </a:ext>
            </a:extLst>
          </p:cNvPr>
          <p:cNvCxnSpPr>
            <a:cxnSpLocks/>
          </p:cNvCxnSpPr>
          <p:nvPr/>
        </p:nvCxnSpPr>
        <p:spPr>
          <a:xfrm>
            <a:off x="5257800" y="4190849"/>
            <a:ext cx="2148068" cy="7545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F857176-B4C3-3F7F-7763-6B82A5F8858A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743200" y="1549205"/>
            <a:ext cx="4662668" cy="3354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384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1C6B62-D414-51B9-80C3-569B6D31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08DC65-F872-3DFA-8E37-12678E0DC7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53" y="771581"/>
            <a:ext cx="4463157" cy="59737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0C460F-ABD8-BC1A-CCB4-F074863993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6" t="2944" r="4323" b="3939"/>
          <a:stretch>
            <a:fillRect/>
          </a:stretch>
        </p:blipFill>
        <p:spPr>
          <a:xfrm>
            <a:off x="4876800" y="976312"/>
            <a:ext cx="3352800" cy="55626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D7861CB-5731-0602-259C-FB32CFDE8B93}"/>
              </a:ext>
            </a:extLst>
          </p:cNvPr>
          <p:cNvSpPr txBox="1">
            <a:spLocks/>
          </p:cNvSpPr>
          <p:nvPr/>
        </p:nvSpPr>
        <p:spPr>
          <a:xfrm>
            <a:off x="-152400" y="184150"/>
            <a:ext cx="9067800" cy="79216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 Code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177977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57C8A-2CB0-F55B-8A68-71B78D380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91903E-38B0-B6EC-0D97-A4728DA5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7532ED-A025-8443-62CF-EBCB13C431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4" r="2402"/>
          <a:stretch>
            <a:fillRect/>
          </a:stretch>
        </p:blipFill>
        <p:spPr>
          <a:xfrm>
            <a:off x="381000" y="453949"/>
            <a:ext cx="3532202" cy="60849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FB1777-8D4C-8FF7-FDF6-FA0E6A499F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3" r="3079"/>
          <a:stretch>
            <a:fillRect/>
          </a:stretch>
        </p:blipFill>
        <p:spPr>
          <a:xfrm>
            <a:off x="4106333" y="685800"/>
            <a:ext cx="4893733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5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64ED8-409D-54B3-1229-55EB5A045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83EC7D-CA6C-0699-4732-914A145D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1BC437-3090-86FF-1B42-A58FEEE430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95" y="168275"/>
            <a:ext cx="3299012" cy="655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990C78-DF31-E4F4-7A12-5867866061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76606"/>
            <a:ext cx="3457260" cy="644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18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EE2E78-21A0-6708-86A7-52C07055B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F55974-AECD-7CEB-3481-BCFEC9AD48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0"/>
            <a:ext cx="385706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1756D5-3762-2C67-1793-89FE17E7F5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" t="7042" r="5940" b="5633"/>
          <a:stretch>
            <a:fillRect/>
          </a:stretch>
        </p:blipFill>
        <p:spPr>
          <a:xfrm>
            <a:off x="3810000" y="1066800"/>
            <a:ext cx="51816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423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6BB9-DE29-69A4-DAB0-4418AE27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Results, Analysis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3D300-3E9E-36B7-AF9B-3BEA69702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Results:</a:t>
            </a:r>
          </a:p>
          <a:p>
            <a:r>
              <a:rPr lang="en-US" dirty="0"/>
              <a:t>Successfully detected chessboard positions. </a:t>
            </a:r>
          </a:p>
          <a:p>
            <a:r>
              <a:rPr lang="en-US" dirty="0"/>
              <a:t>AI generated valid chess moves. </a:t>
            </a:r>
          </a:p>
          <a:p>
            <a:r>
              <a:rPr lang="en-US" dirty="0"/>
              <a:t>Robotic arm performed automated piece movement. </a:t>
            </a:r>
          </a:p>
          <a:p>
            <a:r>
              <a:rPr lang="en-US" dirty="0"/>
              <a:t>System demonstrated synchronized hardware and software operation.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Analysis:</a:t>
            </a:r>
          </a:p>
          <a:p>
            <a:r>
              <a:rPr lang="en-US" dirty="0"/>
              <a:t>OpenCV detection accuracy depends on lighting conditions. </a:t>
            </a:r>
          </a:p>
          <a:p>
            <a:r>
              <a:rPr lang="en-US" dirty="0"/>
              <a:t>Servo calibration improves movement precision. </a:t>
            </a:r>
          </a:p>
          <a:p>
            <a:r>
              <a:rPr lang="en-US" dirty="0"/>
              <a:t>Raspberry Pi handled image processing efficiently.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Evaluation:</a:t>
            </a:r>
          </a:p>
          <a:p>
            <a:r>
              <a:rPr lang="en-US" dirty="0"/>
              <a:t>Suitable for robotics learning and automation research. </a:t>
            </a:r>
          </a:p>
          <a:p>
            <a:r>
              <a:rPr lang="en-US" dirty="0"/>
              <a:t>Can be improved with advanced motion planning and voice interaction.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1B651-FE38-35C2-F54E-3B4667B5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66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A4787-E832-046F-3872-ECA15911C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Faced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A24A9-2F19-ED02-A8B6-912B87EE0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Accurate piece detection</a:t>
            </a:r>
          </a:p>
          <a:p>
            <a:r>
              <a:rPr lang="en-IN" dirty="0"/>
              <a:t>Reliable gripping of different chess pieces</a:t>
            </a:r>
          </a:p>
          <a:p>
            <a:r>
              <a:rPr lang="en-IN" dirty="0"/>
              <a:t>Fast movement without knocking pieces over</a:t>
            </a:r>
          </a:p>
          <a:p>
            <a:r>
              <a:rPr lang="en-IN" dirty="0"/>
              <a:t>Capturing and castling mechanics</a:t>
            </a:r>
          </a:p>
          <a:p>
            <a:r>
              <a:rPr lang="en-IN" dirty="0"/>
              <a:t>Battery and power management</a:t>
            </a:r>
          </a:p>
          <a:p>
            <a:r>
              <a:rPr lang="en-IN" dirty="0"/>
              <a:t>Real-time synchronization between vision, Stockfish, and robotic arm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69233-4FEE-C2F0-2037-EFB777573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36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F093AC-176A-BEC3-0B6F-F3EA70CA9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Areas of improvement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13BBEE-9149-2931-0CCC-1CDAFEF04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Better Motion Control</a:t>
            </a:r>
            <a:endParaRPr lang="en-IN" dirty="0"/>
          </a:p>
          <a:p>
            <a:pPr lvl="1"/>
            <a:r>
              <a:rPr lang="en-IN" dirty="0"/>
              <a:t>Stepper motors with encoders</a:t>
            </a:r>
          </a:p>
          <a:p>
            <a:pPr lvl="1"/>
            <a:r>
              <a:rPr lang="en-IN" dirty="0"/>
              <a:t>Precision gripping mechanisms</a:t>
            </a:r>
          </a:p>
          <a:p>
            <a:pPr lvl="1"/>
            <a:r>
              <a:rPr lang="en-IN" dirty="0"/>
              <a:t>Collision avoidance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b="1" dirty="0"/>
              <a:t>Autonomous Piece Recognition</a:t>
            </a:r>
          </a:p>
          <a:p>
            <a:pPr lvl="1"/>
            <a:r>
              <a:rPr lang="en-IN" dirty="0"/>
              <a:t>Use deep learning models to recognize</a:t>
            </a:r>
          </a:p>
          <a:p>
            <a:pPr lvl="1"/>
            <a:r>
              <a:rPr lang="en-IN" dirty="0"/>
              <a:t>Piece type</a:t>
            </a:r>
          </a:p>
          <a:p>
            <a:pPr lvl="1"/>
            <a:r>
              <a:rPr lang="en-IN" dirty="0"/>
              <a:t>Board coordinates</a:t>
            </a:r>
          </a:p>
          <a:p>
            <a:pPr lvl="1"/>
            <a:r>
              <a:rPr lang="en-IN" dirty="0"/>
              <a:t>Piece orientation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b="1" dirty="0"/>
              <a:t>Natural Language Interface</a:t>
            </a:r>
          </a:p>
          <a:p>
            <a:pPr lvl="1"/>
            <a:r>
              <a:rPr lang="en-IN" dirty="0"/>
              <a:t>Speech recognition</a:t>
            </a:r>
          </a:p>
          <a:p>
            <a:pPr lvl="1"/>
            <a:r>
              <a:rPr lang="en-IN" dirty="0"/>
              <a:t>Text-to-speech</a:t>
            </a:r>
          </a:p>
          <a:p>
            <a:pPr lvl="1"/>
            <a:r>
              <a:rPr lang="en-IN" dirty="0"/>
              <a:t>Conversational coaching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80FFF1-75E6-269C-894C-A2D345EC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0ADB70F-6F38-F0DA-2BA6-C635FCB075F6}"/>
                  </a:ext>
                </a:extLst>
              </p14:cNvPr>
              <p14:cNvContentPartPr/>
              <p14:nvPr/>
            </p14:nvContentPartPr>
            <p14:xfrm>
              <a:off x="4212861" y="983511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0ADB70F-6F38-F0DA-2BA6-C635FCB075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06741" y="97739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1373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3A04-197F-5137-2FB4-846CBC147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opportunities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8B665-E22E-D338-C27A-DD9C4F11FC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2800" dirty="0"/>
              <a:t>1. Advanced Human-Robot Interaction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800" dirty="0"/>
              <a:t>2. AI-Based Coaching System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800" dirty="0"/>
              <a:t>3. Computer Vision Integration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800" dirty="0"/>
              <a:t>4. Industrial Robotics Learning Platform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800" dirty="0"/>
              <a:t>5. Smart Tournament Assistant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800" dirty="0"/>
              <a:t>6. Research Opportunities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71A18-102D-678E-D770-8D0E76A7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32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7EB7D-13EF-EA66-0BB0-5C21B6ECB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Engineering Tools and Standards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60725-992C-05E3-A945-C2E24B7C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Picture 4" descr="DT830D - Pocket Size Digital Multimeter ...">
            <a:extLst>
              <a:ext uri="{FF2B5EF4-FFF2-40B4-BE49-F238E27FC236}">
                <a16:creationId xmlns:a16="http://schemas.microsoft.com/office/drawing/2014/main" id="{CCBF39F0-A5D5-1B3D-07BA-2565D0FCF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2238" y="4034878"/>
            <a:ext cx="1685065" cy="168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GIZMO Hand Tool Kit 11 Pieces With 8 ...">
            <a:extLst>
              <a:ext uri="{FF2B5EF4-FFF2-40B4-BE49-F238E27FC236}">
                <a16:creationId xmlns:a16="http://schemas.microsoft.com/office/drawing/2014/main" id="{50AC50F9-9694-0F6D-E452-46DF79F6C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636683"/>
            <a:ext cx="286702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463108-EC4C-7F93-80D0-FACB788AAB36}"/>
              </a:ext>
            </a:extLst>
          </p:cNvPr>
          <p:cNvSpPr txBox="1"/>
          <p:nvPr/>
        </p:nvSpPr>
        <p:spPr>
          <a:xfrm>
            <a:off x="658159" y="3715184"/>
            <a:ext cx="1713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tx1"/>
                </a:solidFill>
              </a:rPr>
              <a:t>Soldering iron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FC8139-0527-0DED-9FB6-91BE075DE03B}"/>
              </a:ext>
            </a:extLst>
          </p:cNvPr>
          <p:cNvSpPr txBox="1"/>
          <p:nvPr/>
        </p:nvSpPr>
        <p:spPr>
          <a:xfrm>
            <a:off x="2927710" y="5719943"/>
            <a:ext cx="19490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chemeClr val="tx1"/>
                </a:solidFill>
              </a:rPr>
              <a:t>multimeter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9" name="Picture 8" descr="DIGIONN 8W SOLDING IRON, 15 W, 30W at ...">
            <a:extLst>
              <a:ext uri="{FF2B5EF4-FFF2-40B4-BE49-F238E27FC236}">
                <a16:creationId xmlns:a16="http://schemas.microsoft.com/office/drawing/2014/main" id="{00119059-419B-718D-D530-4231C1B4E1D0}"/>
              </a:ext>
            </a:extLst>
          </p:cNvPr>
          <p:cNvPicPr>
            <a:picLocks noGrp="1"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57915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5">
            <a:extLst>
              <a:ext uri="{FF2B5EF4-FFF2-40B4-BE49-F238E27FC236}">
                <a16:creationId xmlns:a16="http://schemas.microsoft.com/office/drawing/2014/main" id="{17DD1B91-4171-5B00-26B2-5CC5331856C3}"/>
              </a:ext>
            </a:extLst>
          </p:cNvPr>
          <p:cNvSpPr txBox="1"/>
          <p:nvPr/>
        </p:nvSpPr>
        <p:spPr>
          <a:xfrm>
            <a:off x="5129212" y="3305847"/>
            <a:ext cx="236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dirty="0">
                <a:solidFill>
                  <a:schemeClr val="tx1"/>
                </a:solidFill>
              </a:rPr>
              <a:t>Tools as wire cutter ,</a:t>
            </a:r>
            <a:r>
              <a:rPr lang="en-IN" dirty="0"/>
              <a:t> </a:t>
            </a:r>
            <a:r>
              <a:rPr lang="en-IN" dirty="0" err="1"/>
              <a:t>pliers,</a:t>
            </a:r>
            <a:r>
              <a:rPr lang="en-IN" sz="1800" dirty="0" err="1">
                <a:solidFill>
                  <a:schemeClr val="tx1"/>
                </a:solidFill>
              </a:rPr>
              <a:t>screwdriver</a:t>
            </a:r>
            <a:r>
              <a:rPr lang="en-IN" sz="1800" dirty="0">
                <a:solidFill>
                  <a:schemeClr val="tx1"/>
                </a:solidFill>
              </a:rPr>
              <a:t> etc</a:t>
            </a:r>
          </a:p>
        </p:txBody>
      </p:sp>
    </p:spTree>
    <p:extLst>
      <p:ext uri="{BB962C8B-B14F-4D97-AF65-F5344CB8AC3E}">
        <p14:creationId xmlns:p14="http://schemas.microsoft.com/office/powerpoint/2010/main" val="3264625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074495" name="Title 1"/>
          <p:cNvSpPr>
            <a:spLocks noGrp="1"/>
          </p:cNvSpPr>
          <p:nvPr>
            <p:ph type="title"/>
          </p:nvPr>
        </p:nvSpPr>
        <p:spPr bwMode="auto">
          <a:xfrm>
            <a:off x="323215" y="-99377"/>
            <a:ext cx="82296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IN" sz="4000" b="1" dirty="0">
                <a:latin typeface="Times New Roman" panose="02020603050405020304"/>
                <a:cs typeface="Times New Roman" panose="02020603050405020304"/>
              </a:rPr>
              <a:t>Project Status</a:t>
            </a:r>
          </a:p>
        </p:txBody>
      </p:sp>
      <p:sp>
        <p:nvSpPr>
          <p:cNvPr id="145021317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23</a:t>
            </a:fld>
            <a:endParaRPr lang="en-US"/>
          </a:p>
        </p:txBody>
      </p:sp>
      <p:graphicFrame>
        <p:nvGraphicFramePr>
          <p:cNvPr id="2072049011" name="Content Placeholder 4"/>
          <p:cNvGraphicFramePr>
            <a:graphicFrameLocks noGrp="1"/>
          </p:cNvGraphicFramePr>
          <p:nvPr>
            <p:ph idx="1"/>
          </p:nvPr>
        </p:nvGraphicFramePr>
        <p:xfrm>
          <a:off x="395605" y="981075"/>
          <a:ext cx="8229600" cy="5112218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415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4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504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3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/>
                        </a:rPr>
                        <a:t>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3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Conceptualisation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/>
                        </a:rPr>
                        <a:t>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3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 Selection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/>
                        </a:rPr>
                        <a:t>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3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Testing &amp; Calibration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/>
                        </a:rPr>
                        <a:t>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57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Implementation &amp; Verifications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/>
                        </a:rPr>
                        <a:t>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3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/>
                        </a:rPr>
                        <a:t>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557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/>
                        </a:rPr>
                        <a:t>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3557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Packaging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/>
                        </a:rPr>
                        <a:t>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557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Presentation &amp;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/>
                        </a:rPr>
                        <a:t>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923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Demonstration &amp; 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78BF82B-3480-991C-98B8-0B535F413631}"/>
                  </a:ext>
                </a:extLst>
              </p14:cNvPr>
              <p14:cNvContentPartPr/>
              <p14:nvPr/>
            </p14:nvContentPartPr>
            <p14:xfrm>
              <a:off x="4039701" y="7569711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78BF82B-3480-991C-98B8-0B535F4136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33581" y="756359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B30493A-B4B3-F0D1-5C76-60A88C9100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42219"/>
            <a:ext cx="8204490" cy="4447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Autonomous Chess-Playing Robotic Arm using Raspberry Pi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An Open-Source Reproducible Chess Robot for Human-Robot Interaction Research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Chess Playing Robot Thesis (2020)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5"/>
              </a:rPr>
              <a:t>Design and Construction of a Cost-Effective Didactic Robotic Arm for Playing Chess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6"/>
              </a:rPr>
              <a:t>Chess Playing Robotic Arm Using Stockfish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7"/>
              </a:rPr>
              <a:t>Raspberry Turk: Chess Playing Robot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Chess Robot using Raspberry Pi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Lynxmotion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8"/>
              </a:rPr>
              <a:t> Arm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9"/>
              </a:rPr>
              <a:t>Design and Implementation of an Autonomous Chess-Playing Manipulator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0"/>
              </a:rPr>
              <a:t>Playing Robot System Using Computer Vision and Stockfish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23306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3CC31-BE19-5FB7-52FD-0AD9CFFC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E67A0-2397-4F1B-BFCF-395037002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0B74476-1DAD-AC12-BADF-838E4452C0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859339"/>
            <a:ext cx="83058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Automated Chess Playing Robot successfully integrates AI, robotics, and embedded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can detect chess moves, analyze the board, and physically move pieces automatically.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Demonstrates practical implementation of intelligent robotic automation.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scope includes voice interaction, better robotic precision, and advanced AI features. </a:t>
            </a:r>
          </a:p>
        </p:txBody>
      </p:sp>
    </p:spTree>
    <p:extLst>
      <p:ext uri="{BB962C8B-B14F-4D97-AF65-F5344CB8AC3E}">
        <p14:creationId xmlns:p14="http://schemas.microsoft.com/office/powerpoint/2010/main" val="2012124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1041</Words>
  <Application>Microsoft Office PowerPoint</Application>
  <PresentationFormat>On-screen Show (4:3)</PresentationFormat>
  <Paragraphs>258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Times New Roman</vt:lpstr>
      <vt:lpstr>Wingdings</vt:lpstr>
      <vt:lpstr>Office Theme</vt:lpstr>
      <vt:lpstr>AUTOMATED CHESS PLAYING ROBOT USING COMPUTER VISION AND ROBOTIC ARM</vt:lpstr>
      <vt:lpstr>Contents </vt:lpstr>
      <vt:lpstr>Aim</vt:lpstr>
      <vt:lpstr>Introduction</vt:lpstr>
      <vt:lpstr>Literature survey </vt:lpstr>
      <vt:lpstr>Motivation Behind Our Project</vt:lpstr>
      <vt:lpstr>Project objectives</vt:lpstr>
      <vt:lpstr>Block diagrams</vt:lpstr>
      <vt:lpstr>Circuit diagram</vt:lpstr>
      <vt:lpstr>Components </vt:lpstr>
      <vt:lpstr>PowerPoint Presentation</vt:lpstr>
      <vt:lpstr>Model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Results, Analysis and Evaluation</vt:lpstr>
      <vt:lpstr>Problem Faced </vt:lpstr>
      <vt:lpstr>Areas of improvement</vt:lpstr>
      <vt:lpstr>Future opportunities</vt:lpstr>
      <vt:lpstr>Engineering Tools and Standards</vt:lpstr>
      <vt:lpstr>Project Status</vt:lpstr>
      <vt:lpstr>References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ITERADMIN</dc:creator>
  <cp:lastModifiedBy>Ashutosh Upadhyaya</cp:lastModifiedBy>
  <cp:revision>16</cp:revision>
  <dcterms:created xsi:type="dcterms:W3CDTF">2006-08-16T00:00:00Z</dcterms:created>
  <dcterms:modified xsi:type="dcterms:W3CDTF">2026-06-09T18:43:23Z</dcterms:modified>
</cp:coreProperties>
</file>